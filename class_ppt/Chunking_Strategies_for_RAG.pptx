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86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CHUNKING STRATEGIES FOR RAG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6583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7086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TEACHING DECK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Chunking Strategies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RAG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94944" y="2834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</a:rPr>
              <a:t>From fixed windows → recursive → semantic → hierarchical → agentic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With runnable Python examples for every method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67728" y="105156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0B1725"/>
          </a:solidFill>
          <a:ln w="12700">
            <a:solidFill>
              <a:srgbClr val="244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ONE DOCUMENT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0" y="1691640"/>
            <a:ext cx="3429000" cy="1143000"/>
          </a:xfrm>
          <a:prstGeom prst="roundRect">
            <a:avLst>
              <a:gd name="adj" fmla="val 3200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71232" y="1874520"/>
            <a:ext cx="2606040" cy="50292"/>
          </a:xfrm>
          <a:prstGeom prst="rect">
            <a:avLst/>
          </a:prstGeom>
          <a:solidFill>
            <a:srgbClr val="7890A2"/>
          </a:solidFill>
          <a:ln w="12700">
            <a:solidFill>
              <a:srgbClr val="7890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71232" y="2029968"/>
            <a:ext cx="2103120" cy="50292"/>
          </a:xfrm>
          <a:prstGeom prst="rect">
            <a:avLst/>
          </a:prstGeom>
          <a:solidFill>
            <a:srgbClr val="7890A2"/>
          </a:solidFill>
          <a:ln w="12700">
            <a:solidFill>
              <a:srgbClr val="7890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71232" y="2185416"/>
            <a:ext cx="2606040" cy="50292"/>
          </a:xfrm>
          <a:prstGeom prst="rect">
            <a:avLst/>
          </a:prstGeom>
          <a:solidFill>
            <a:srgbClr val="7890A2"/>
          </a:solidFill>
          <a:ln w="12700">
            <a:solidFill>
              <a:srgbClr val="7890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71232" y="2340864"/>
            <a:ext cx="2103120" cy="50292"/>
          </a:xfrm>
          <a:prstGeom prst="rect">
            <a:avLst/>
          </a:prstGeom>
          <a:solidFill>
            <a:srgbClr val="7890A2"/>
          </a:solidFill>
          <a:ln w="12700">
            <a:solidFill>
              <a:srgbClr val="7890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1232" y="2496312"/>
            <a:ext cx="2606040" cy="50292"/>
          </a:xfrm>
          <a:prstGeom prst="rect">
            <a:avLst/>
          </a:prstGeom>
          <a:solidFill>
            <a:srgbClr val="7890A2"/>
          </a:solidFill>
          <a:ln w="12700">
            <a:solidFill>
              <a:srgbClr val="7890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34272" y="2971800"/>
            <a:ext cx="0" cy="47548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818120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2D3EE"/>
                </a:solidFill>
              </a:rPr>
              <a:t>different chunking strategies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3657600"/>
            <a:ext cx="667512" cy="987552"/>
          </a:xfrm>
          <a:prstGeom prst="roundRect">
            <a:avLst>
              <a:gd name="adj" fmla="val 5479"/>
            </a:avLst>
          </a:prstGeom>
          <a:solidFill>
            <a:srgbClr val="22D3EE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3767328"/>
            <a:ext cx="667512" cy="877824"/>
          </a:xfrm>
          <a:prstGeom prst="roundRect">
            <a:avLst>
              <a:gd name="adj" fmla="val 5479"/>
            </a:avLst>
          </a:prstGeom>
          <a:solidFill>
            <a:srgbClr val="A78BFA">
              <a:alpha val="8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8552" y="3657600"/>
            <a:ext cx="667512" cy="987552"/>
          </a:xfrm>
          <a:prstGeom prst="roundRect">
            <a:avLst>
              <a:gd name="adj" fmla="val 5479"/>
            </a:avLst>
          </a:prstGeom>
          <a:solidFill>
            <a:srgbClr val="34D399">
              <a:alpha val="8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2368" y="3767328"/>
            <a:ext cx="667512" cy="877824"/>
          </a:xfrm>
          <a:prstGeom prst="roundRect">
            <a:avLst>
              <a:gd name="adj" fmla="val 5479"/>
            </a:avLst>
          </a:prstGeom>
          <a:solidFill>
            <a:srgbClr val="FB923C">
              <a:alpha val="8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16184" y="3657600"/>
            <a:ext cx="667512" cy="987552"/>
          </a:xfrm>
          <a:prstGeom prst="roundRect">
            <a:avLst>
              <a:gd name="adj" fmla="val 5479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4919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F4FA"/>
                </a:solidFill>
              </a:rPr>
              <a:t>retrieve the right context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chunking changes RAG quality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retriever can only return the units you choose to index.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DOCUMENT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3816" y="19933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long + mixed topics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984248"/>
            <a:ext cx="320040" cy="0"/>
          </a:xfrm>
          <a:prstGeom prst="line">
            <a:avLst/>
          </a:prstGeom>
          <a:noFill/>
          <a:ln w="2032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6642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CHUNK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99816" y="19933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choose boundaries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83480" y="1984248"/>
            <a:ext cx="320040" cy="0"/>
          </a:xfrm>
          <a:prstGeom prst="line">
            <a:avLst/>
          </a:prstGeom>
          <a:noFill/>
          <a:ln w="2032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6642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EMBED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85816" y="19933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vector per chunk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984248"/>
            <a:ext cx="320040" cy="0"/>
          </a:xfrm>
          <a:prstGeom prst="line">
            <a:avLst/>
          </a:prstGeom>
          <a:noFill/>
          <a:ln w="2032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6642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RETRIEVE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71816" y="19933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top-k matches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555480" y="1984248"/>
            <a:ext cx="320040" cy="0"/>
          </a:xfrm>
          <a:prstGeom prst="line">
            <a:avLst/>
          </a:prstGeom>
          <a:noFill/>
          <a:ln w="2032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980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6642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LLM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57816" y="19933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answer with 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4FA"/>
                </a:solidFill>
              </a:rPr>
              <a:t>A good chunk balances three forces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3456432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05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CF4FA"/>
                </a:solidFill>
              </a:rPr>
              <a:t>Small chunks retrieve the exact fact.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913632" y="3456432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8224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CONTEXT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78224" y="4005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CF4FA"/>
                </a:solidFill>
              </a:rPr>
              <a:t>Larger chunks preserve surrounding meaning.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77456" y="3456432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COST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4005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CF4FA"/>
                </a:solidFill>
              </a:rPr>
              <a:t>More / larger chunks increase storage &amp; tokens.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939528" y="3456432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67544" y="35478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TEACH THIS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67544" y="373075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No method wins everywhere. Pick boundaries that match your document + query.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document. Different cuts.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reuse one Employee Leave Policy throughout the deck.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16152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F4FA"/>
                </a:solidFill>
              </a:rPr>
              <a:t>Employee Leave Policy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1956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3. Annual Leave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5720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CF4FA"/>
                </a:solidFill>
              </a:rPr>
              <a:t>Eligible employees receive 20 days of annual leave per calendar year. Up to 5 unused days may be carried into the next year. Carried-over leave must be used by March 31 or it expires.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</a:rPr>
              <a:t>Managers should consider business coverage before approving leave. Requests longer than 5 consecutive working days should normally be submitted at least 30 days in advance.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</a:rPr>
              <a:t>Question: “How many days can I carry forward?”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65392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F4FA"/>
                </a:solidFill>
              </a:rPr>
              <a:t>Possible boundaries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1828800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0F1D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9568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Fixed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73568" y="1956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every N tokens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2542032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670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Recursive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73568" y="2670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natural separator + size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3255264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3832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Semantic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73568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meaning shift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3968496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0965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Hierarchical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73568" y="4096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section / parent path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4681728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4809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</a:rPr>
              <a:t>Agentic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73568" y="4809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LLM decides boundary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5559552"/>
            <a:ext cx="4709160" cy="658368"/>
          </a:xfrm>
          <a:prstGeom prst="roundRect">
            <a:avLst>
              <a:gd name="adj" fmla="val 8333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56509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65976" y="583387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The document is constant. Only the rule for drawing boundaries changes.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Fixed-size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split every N units — simple, fast, predictable.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</a:rPr>
              <a:t>BOUNDARY = SIZE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</a:rPr>
              <a:t>Document stream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987552" cy="749808"/>
          </a:xfrm>
          <a:prstGeom prst="roundRect">
            <a:avLst>
              <a:gd name="adj" fmla="val 4878"/>
            </a:avLst>
          </a:prstGeom>
          <a:solidFill>
            <a:srgbClr val="60A5FA">
              <a:alpha val="82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F4FA"/>
                </a:solidFill>
              </a:rPr>
              <a:t>1–55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783080"/>
            <a:ext cx="987552" cy="749808"/>
          </a:xfrm>
          <a:prstGeom prst="roundRect">
            <a:avLst>
              <a:gd name="adj" fmla="val 4878"/>
            </a:avLst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F4FA"/>
                </a:solidFill>
              </a:rPr>
              <a:t>56–110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90672" y="1783080"/>
            <a:ext cx="987552" cy="749808"/>
          </a:xfrm>
          <a:prstGeom prst="roundRect">
            <a:avLst>
              <a:gd name="adj" fmla="val 4878"/>
            </a:avLst>
          </a:prstGeom>
          <a:solidFill>
            <a:srgbClr val="A78BFA">
              <a:alpha val="8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F4FA"/>
                </a:solidFill>
              </a:rPr>
              <a:t>111–165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783080"/>
            <a:ext cx="987552" cy="749808"/>
          </a:xfrm>
          <a:prstGeom prst="roundRect">
            <a:avLst>
              <a:gd name="adj" fmla="val 4878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202082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F4FA"/>
                </a:solidFill>
              </a:rPr>
              <a:t>166–220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788920"/>
            <a:ext cx="0" cy="594360"/>
          </a:xfrm>
          <a:prstGeom prst="line">
            <a:avLst/>
          </a:prstGeom>
          <a:noFill/>
          <a:ln w="2540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can cut through a sentence / concept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0F1D2E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79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Good for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0784" y="42793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fast baselines · uniform text · benchmarking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6085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Risk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00784" y="46085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boundary facts lose their neighbors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44768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fixed_size_chunking.py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536192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2113407"/>
            <a:ext cx="5239512" cy="394335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2883789"/>
            <a:ext cx="5239512" cy="394335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700784"/>
            <a:ext cx="5047488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fixed_size_chunks(text, chunk_size=60):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words = text.split()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[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" ".join(words[i:i + chunk_size])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for i in range(0, len(words), chunk_size)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chunks = fixed_size_chunks(text, 55)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6108192" y="52303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5321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36208" y="5504688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In this teaching code, “words” stand in for model tokens. Production systems should count with the model tokenizer.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Sliding window + overlap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some text across adjacent chunks so boundary facts appear in both.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BOUNDARY = SIZE + STRIDE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4160520" cy="621792"/>
          </a:xfrm>
          <a:prstGeom prst="roundRect">
            <a:avLst>
              <a:gd name="adj" fmla="val 5882"/>
            </a:avLst>
          </a:prstGeom>
          <a:solidFill>
            <a:srgbClr val="60A5FA">
              <a:alpha val="88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2715768"/>
            <a:ext cx="4160520" cy="621792"/>
          </a:xfrm>
          <a:prstGeom prst="roundRect">
            <a:avLst>
              <a:gd name="adj" fmla="val 5882"/>
            </a:avLst>
          </a:prstGeom>
          <a:solidFill>
            <a:srgbClr val="22D3EE">
              <a:alpha val="8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00984" y="3557016"/>
            <a:ext cx="4160520" cy="621792"/>
          </a:xfrm>
          <a:prstGeom prst="roundRect">
            <a:avLst>
              <a:gd name="adj" fmla="val 5882"/>
            </a:avLst>
          </a:prstGeom>
          <a:solidFill>
            <a:srgbClr val="A78BFA">
              <a:alpha val="8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665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chunk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21992" y="29077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chunk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38144" y="3749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chunk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1874520"/>
            <a:ext cx="2944368" cy="621792"/>
          </a:xfrm>
          <a:prstGeom prst="rect">
            <a:avLst/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075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overlap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" y="4892040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9834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TEACH THIS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9264" y="516636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Overlap improves continuity, but creates more vectors and can return near-duplicate chunks.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19088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sliding_window_chunking.py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91072" y="1536192"/>
            <a:ext cx="5138928" cy="3566160"/>
          </a:xfrm>
          <a:prstGeom prst="roundRect">
            <a:avLst>
              <a:gd name="adj" fmla="val 1538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2532888"/>
            <a:ext cx="5029200" cy="411480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3739896"/>
            <a:ext cx="5029200" cy="411480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700784"/>
            <a:ext cx="48371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sliding_window_chunks(text, size=60, overlap=12):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words = text.split()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step = size - overlap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chunks = []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start in range(0, len(words), step):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chunks.append(" ".join(words[start:start + size]))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chunks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6355080" y="53492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B923C"/>
                </a:solidFill>
              </a:rPr>
              <a:t>Tune overlap as a percentage of chunk size — not as a magic constant.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Sentence / paragraph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boundaries already present in natural language.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BOUNDARY = PUNCTUATION / PARAGRAPH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4956048" cy="4343400"/>
          </a:xfrm>
          <a:prstGeom prst="roundRect">
            <a:avLst>
              <a:gd name="adj" fmla="val 1684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93392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22D3EE">
              <a:alpha val="12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112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Eligibility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76272" y="2112264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Employees become eligible after 30 days…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3044952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34D399">
              <a:alpha val="12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1638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Annual leave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3163824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Employees receive 20 days… carry 5 days…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4096512"/>
            <a:ext cx="4370832" cy="749808"/>
          </a:xfrm>
          <a:prstGeom prst="roundRect">
            <a:avLst>
              <a:gd name="adj" fmla="val 6098"/>
            </a:avLst>
          </a:prstGeom>
          <a:solidFill>
            <a:srgbClr val="FB923C">
              <a:alpha val="12000"/>
            </a:srgbClr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215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Approval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4215384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Requests longer than 5 days… 30 days in advance.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51663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C8"/>
                </a:solidFill>
              </a:rPr>
              <a:t>Oversized paragraph?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5166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split by sentence → pack again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sentence_paragraph_chunking.py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536192"/>
            <a:ext cx="5358384" cy="3749040"/>
          </a:xfrm>
          <a:prstGeom prst="roundRect">
            <a:avLst>
              <a:gd name="adj" fmla="val 1463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1728216"/>
            <a:ext cx="5248656" cy="495082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3186031"/>
            <a:ext cx="5248656" cy="495082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35624" y="4643846"/>
            <a:ext cx="5248656" cy="495082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700784"/>
            <a:ext cx="505663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paragraphs = re.split(r"\n\s*\n", text)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paragraph in paragraphs: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words(paragraph) &lt;= max_words: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add(paragraph)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else: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for sentence in split_sentences(paragraph):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pack_without_exceeding(sentence, max_words)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080760" y="5504688"/>
            <a:ext cx="5358384" cy="658368"/>
          </a:xfrm>
          <a:prstGeom prst="roundRect">
            <a:avLst>
              <a:gd name="adj" fmla="val 833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55961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08776" y="577900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Great default when prose already has meaningful paragraph structure.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Recursive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coarse separators first; fall back only when a piece is still too large.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BOUNDARY = STRUCTURE + SIZE LIMIT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41248" y="178308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9280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\n\n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CF4FA"/>
                </a:solidFill>
              </a:rPr>
              <a:t>sections / paragraphs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0048" y="2386584"/>
            <a:ext cx="301752" cy="265176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23957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5054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\n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3472" y="250545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CF4FA"/>
                </a:solidFill>
              </a:rPr>
              <a:t>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2999232"/>
            <a:ext cx="301752" cy="265176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16352" y="3008376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311810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21024" y="3118104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CF4FA"/>
                </a:solidFill>
              </a:rPr>
              <a:t>sentences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5152" y="3611880"/>
            <a:ext cx="301752" cy="265176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03904" y="3621024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37307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08576" y="37307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CF4FA"/>
                </a:solidFill>
              </a:rPr>
              <a:t>words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32704" y="4224528"/>
            <a:ext cx="301752" cy="265176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91456" y="4233672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43434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hard split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96128" y="43434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CF4FA"/>
                </a:solidFill>
              </a:rPr>
              <a:t>last resort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Stop as soon as every chunk fits.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recursive_chunking.py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1536192"/>
            <a:ext cx="5303520" cy="3977640"/>
          </a:xfrm>
          <a:prstGeom prst="roundRect">
            <a:avLst>
              <a:gd name="adj" fmla="val 1379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728216"/>
            <a:ext cx="519379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938272"/>
            <a:ext cx="519379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4148328"/>
            <a:ext cx="519379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700784"/>
            <a:ext cx="500176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SEPARATORS = ["\n\n", "\n", ". ", " ", ""]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split_piece(piece, level=0):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len(piece) &lt;= max_chars: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[piece]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sep = SEPARATORS[level]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parts = piece.split(sep)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recurse_and_merge(parts, level + 1)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6144768" y="56692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57607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TEACH THIS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59436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Why it works: it preserves the strongest available boundary without giving up a hard size cap.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· Semantic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boundary when adjacent ideas stop being similar.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BOUNDARY = MEANING SHIFT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14884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3774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196596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2194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7168" y="2267712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963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77640" y="3063240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3291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26280" y="2761488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9900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83480" y="3246120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4747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S6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topic 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60520" y="2450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topic 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1783080"/>
            <a:ext cx="0" cy="1965960"/>
          </a:xfrm>
          <a:prstGeom prst="line">
            <a:avLst/>
          </a:prstGeom>
          <a:noFill/>
          <a:ln w="2286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similarity drop → boundary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60704" y="4800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cosine similarity between adjacent sentence embeddings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semantic_chunking.py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8192" y="1536192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938272"/>
            <a:ext cx="523951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4148328"/>
            <a:ext cx="523951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4551680"/>
            <a:ext cx="5239512" cy="41249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700784"/>
            <a:ext cx="50474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SentenceTransformer(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"sentence-transformers/all-MiniLM-L6-v2"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emb = model.encode(sentences, normalize_embeddings=True)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in range(1, len(sentences)):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similarity = float(np.dot(emb[i-1], emb[i]))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similarity &lt; threshold: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start_new_chunk()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896112" y="564184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More coherent chunks — but extra embedding work and a threshold to tune.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5352" y="56875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</a:rPr>
              <a:t>Sentence Transformers docs: encode + similarity / cosine are the core primitives.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· Hierarchical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document tree: document → section → paragraph → leaf.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BOUNDARY = DOCUMENT HIERARCHY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11680" y="164592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4D399"/>
                </a:solidFill>
              </a:rPr>
              <a:t>Employee Leave Policy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749808" y="27432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Annual Leave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246120" y="27432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78BFA"/>
                </a:solidFill>
              </a:rPr>
              <a:t>Sick Leave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58368" y="39776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151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0A5FA"/>
                </a:solidFill>
              </a:rPr>
              <a:t>Carry-over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221992" y="39776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4151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B923C"/>
                </a:solidFill>
              </a:rPr>
              <a:t>Approval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154680" y="39776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4151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Eligibility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709160" y="39776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151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78BFA"/>
                </a:solidFill>
              </a:rPr>
              <a:t>Certificate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3154680" y="2212848"/>
            <a:ext cx="-1344168" cy="53035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2212848"/>
            <a:ext cx="1143000" cy="53035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10512" y="3310128"/>
            <a:ext cx="-438912" cy="66751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10512" y="3310128"/>
            <a:ext cx="1143000" cy="66751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97680" y="3310128"/>
            <a:ext cx="-411480" cy="66751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97680" y="3310128"/>
            <a:ext cx="1143000" cy="667512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4400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4FA"/>
                </a:solidFill>
              </a:rPr>
              <a:t>Index leaves; retain the path as metadata.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73952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hierarchical_chunking.py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9632" y="1536192"/>
            <a:ext cx="5212080" cy="3977640"/>
          </a:xfrm>
          <a:prstGeom prst="roundRect">
            <a:avLst>
              <a:gd name="adj" fmla="val 1379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2091233"/>
            <a:ext cx="5102352" cy="372161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4496" y="3543300"/>
            <a:ext cx="5102352" cy="372161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4995367"/>
            <a:ext cx="5102352" cy="372161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700784"/>
            <a:ext cx="491032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@dataclass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Node: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title: str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level: int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text: str = ""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children: list["Node"] = field(default_factory=list)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root = parse_markdown_hierarchy(text)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path, node in root.walk():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index(text=node.text, metadata={"path": path})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6199632" y="5650992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57424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TEACH THIS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27648" y="592531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Useful for manuals, policies, books and documentation where headings carry meaning.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· Parent–child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 small child; return its larger parent as generation context.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B923C">
              <a:alpha val="16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</a:rPr>
              <a:t>PRECISION + CONTEXT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5166360" cy="4389120"/>
          </a:xfrm>
          <a:prstGeom prst="roundRect">
            <a:avLst>
              <a:gd name="adj" fmla="val 1667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874520"/>
            <a:ext cx="4507992" cy="1024128"/>
          </a:xfrm>
          <a:prstGeom prst="roundRect">
            <a:avLst>
              <a:gd name="adj" fmla="val 7143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0848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PARENT  ·  Annual Leave section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3401568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child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82496" y="3401568"/>
            <a:ext cx="1636776" cy="-493776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87168" y="3401568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child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45536" y="3401568"/>
            <a:ext cx="173736" cy="-493776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50208" y="3401568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3593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child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3401568"/>
            <a:ext cx="-1289304" cy="-493776"/>
          </a:xfrm>
          <a:prstGeom prst="line">
            <a:avLst/>
          </a:prstGeom>
          <a:noFill/>
          <a:ln w="1524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32688" y="4727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Vector index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4727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4FA"/>
                </a:solidFill>
              </a:rPr>
              <a:t>small children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4727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LLM context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4727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4FA"/>
                </a:solidFill>
              </a:rPr>
              <a:t>expanded parent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parent_child_chunking.py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1536192"/>
            <a:ext cx="5285232" cy="4005072"/>
          </a:xfrm>
          <a:prstGeom prst="roundRect">
            <a:avLst>
              <a:gd name="adj" fmla="val 1370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2393234"/>
            <a:ext cx="5175504" cy="341653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4720798"/>
            <a:ext cx="5175504" cy="341653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5053307"/>
            <a:ext cx="5175504" cy="341653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700784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parents, children = build_parent_child_chunks(text)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1) embed only the small children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index.add([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{"id": c.child_id, "text": c.text,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"parent_id": c.parent_id}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c in children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2) after retrieval, expand the hit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context = expand_hit(hit, parents)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6144768" y="5669280"/>
            <a:ext cx="5285232" cy="658368"/>
          </a:xfrm>
          <a:prstGeom prst="roundRect">
            <a:avLst>
              <a:gd name="adj" fmla="val 8333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57607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</a:rPr>
              <a:t>TEACH THIS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72784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A common pattern when retrieval precision needs smaller text than the LLM should ultimately read.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· Structure-aware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Markdown, tables, code blocks and other document-native units.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</a:rPr>
              <a:t>BOUNDARY = FORMAT / SYNTAX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6112" y="169164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Heading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96112" y="233172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68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prose block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6112" y="3401568"/>
            <a:ext cx="4526280" cy="777240"/>
          </a:xfrm>
          <a:prstGeom prst="roundRect">
            <a:avLst>
              <a:gd name="adj" fmla="val 9412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5387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Table | Row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 ...   | ... |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4379976"/>
            <a:ext cx="4526280" cy="932688"/>
          </a:xfrm>
          <a:prstGeom prst="roundRect">
            <a:avLst>
              <a:gd name="adj" fmla="val 7843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451713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```python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approve():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```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5504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4FA"/>
                </a:solidFill>
              </a:rPr>
              <a:t>Pack whole blocks until size limit is reached.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91072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structure_aware_chunking.py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1536192"/>
            <a:ext cx="5340096" cy="4069080"/>
          </a:xfrm>
          <a:prstGeom prst="roundRect">
            <a:avLst>
              <a:gd name="adj" fmla="val 1348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728216"/>
            <a:ext cx="5230368" cy="42265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2968752"/>
            <a:ext cx="5230368" cy="42265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5036312"/>
            <a:ext cx="5230368" cy="42265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700784"/>
            <a:ext cx="5038344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blocks = markdown_blocks(text)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block in blocks: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block.kind in {"heading", "code", "table"}: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preserve(block)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else: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pack(block)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chunks = pack_blocks(blocks, max_chars=500)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6108192" y="5724144"/>
            <a:ext cx="5340096" cy="658368"/>
          </a:xfrm>
          <a:prstGeom prst="roundRect">
            <a:avLst>
              <a:gd name="adj" fmla="val 8333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58155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36208" y="599846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When the format already encodes meaning, use it instead of throwing it away.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 · Agentic / LLM-assisted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reasoning model whether neighboring segments belong together.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B923C">
              <a:alpha val="16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</a:rPr>
              <a:t>BOUNDARY = MODEL JUDGMENT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230368" cy="4480560"/>
          </a:xfrm>
          <a:prstGeom prst="roundRect">
            <a:avLst>
              <a:gd name="adj" fmla="val 1633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0299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CF4FA"/>
                </a:solidFill>
              </a:rPr>
              <a:t>Annual leave is 20 days…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1993392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SAME_CHUNK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99232" y="2487168"/>
            <a:ext cx="0" cy="109728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299008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172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1455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CF4FA"/>
                </a:solidFill>
              </a:rPr>
              <a:t>Up to 5 unused days carry forward…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993392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</a:rPr>
              <a:t>NEW_CHUNK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99232" y="3602736"/>
            <a:ext cx="0" cy="109728"/>
          </a:xfrm>
          <a:prstGeom prst="line">
            <a:avLst/>
          </a:prstGeom>
          <a:noFill/>
          <a:ln w="1778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0120" y="410565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2885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42611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CF4FA"/>
                </a:solidFill>
              </a:rPr>
              <a:t>Sick leave covers illness…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14400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923C"/>
                </a:solidFill>
              </a:rPr>
              <a:t>Adaptive, but adds latency, cost and model variability.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agentic_chunking.py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536192"/>
            <a:ext cx="5321808" cy="4023360"/>
          </a:xfrm>
          <a:prstGeom prst="roundRect">
            <a:avLst>
              <a:gd name="adj" fmla="val 1364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728216"/>
            <a:ext cx="5212080" cy="34331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3399074"/>
            <a:ext cx="5212080" cy="34331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4067417"/>
            <a:ext cx="5212080" cy="343316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700784"/>
            <a:ext cx="502005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agentic_chunks(text, decide_boundary):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segments = candidate_segments(text)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chunks = [[segments[0]]]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segment in segments[1:]: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previous = chunks[-1][-1]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decide_boundary(previous, segment):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chunks.append([segment])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else: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chunks[-1].append(segment)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chunks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6126480" y="5669280"/>
            <a:ext cx="5321808" cy="658368"/>
          </a:xfrm>
          <a:prstGeom prst="roundRect">
            <a:avLst>
              <a:gd name="adj" fmla="val 8333"/>
            </a:avLst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57607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54496" y="59436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The supplied file is provider-agnostic: inject your own LLM boundary-decider; the demo fallback is deterministic.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· Proposition-based chunking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text into small atomic claims that can be retrieved independently.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UNIT = ATOMIC CLAIM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47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3C8"/>
                </a:solidFill>
              </a:rPr>
              <a:t>Original sentence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167128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0F1D2E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59152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CF4FA"/>
                </a:solidFill>
              </a:rPr>
              <a:t>Employees receive 20 days of annual leave and may carry 5 unused days into the next year.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3063240"/>
            <a:ext cx="0" cy="393192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" y="3611880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8039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P1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64208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Employees receive 20 days of annual leave.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462272"/>
            <a:ext cx="4617720" cy="640080"/>
          </a:xfrm>
          <a:prstGeom prst="roundRect">
            <a:avLst>
              <a:gd name="adj" fmla="val 11429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46542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P2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64208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Employees may carry 5 unused days into the next year.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proposition_chunking.py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536192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728216"/>
            <a:ext cx="5212080" cy="462915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3089529"/>
            <a:ext cx="5212080" cy="462915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4904613"/>
            <a:ext cx="5212080" cy="462915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700784"/>
            <a:ext cx="502005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proposition_chunks(text, decompose):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propositions = []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sentence in sentences(text):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pieces = decompose(sentence)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propositions.extend(pieces or [sentence])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propositions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High-quality decompose is usually an NLP / LLM step.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126480" y="5650992"/>
            <a:ext cx="5321808" cy="658368"/>
          </a:xfrm>
          <a:prstGeom prst="roundRect">
            <a:avLst>
              <a:gd name="adj" fmla="val 833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57424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54496" y="592531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Very precise retrieval for fact-heavy text; beware losing context or creating ambiguous micro-claims.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· Late chunking / contextual pooling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context first; pool chunk vectors afterwards.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1932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EMBED FIRST → POOL LATER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04672" y="18745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F1D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document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59152" y="2350008"/>
            <a:ext cx="548640" cy="0"/>
          </a:xfrm>
          <a:prstGeom prst="line">
            <a:avLst/>
          </a:prstGeom>
          <a:noFill/>
          <a:ln w="2286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8745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391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token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2350008"/>
            <a:ext cx="548640" cy="0"/>
          </a:xfrm>
          <a:prstGeom prst="line">
            <a:avLst/>
          </a:prstGeom>
          <a:noFill/>
          <a:ln w="2286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13248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039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by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spans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4FA"/>
                </a:solidFill>
              </a:rPr>
              <a:t>Each chunk vector “remembers” surrounding document context.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B923C"/>
                </a:solidFill>
              </a:rPr>
              <a:t>Caveat: model context window still limits how much text can be contextualized at once.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31520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late_chunking_demo.py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0608" y="1536192"/>
            <a:ext cx="4315968" cy="4251960"/>
          </a:xfrm>
          <a:prstGeom prst="roundRect">
            <a:avLst>
              <a:gd name="adj" fmla="val 1290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5472" y="1728216"/>
            <a:ext cx="4206240" cy="364097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3857937"/>
            <a:ext cx="4206240" cy="364097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5277751"/>
            <a:ext cx="4206240" cy="364097"/>
          </a:xfrm>
          <a:prstGeom prst="rect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700784"/>
            <a:ext cx="4014216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batch = tokenizer(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text,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return_offsets_mapping=True,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return_tensors="pt"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token_vectors = model(**batch).last_hidden_state[0]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span in chunk_spans: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mask = tokens_overlapping(span)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chunk_vector = token_vectors[mask].mean(dim=0)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896112" y="4846320"/>
            <a:ext cx="6172200" cy="658368"/>
          </a:xfrm>
          <a:prstGeom prst="roundRect">
            <a:avLst>
              <a:gd name="adj" fmla="val 8333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9377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24128" y="5120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This is an educational implementation of the idea: contextualize at document level, then aggregate into chunk-level vectors.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the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by boundary signal, retrieval need and operational cost.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1417320" cy="457200"/>
          </a:xfrm>
          <a:prstGeom prst="rect">
            <a:avLst/>
          </a:prstGeom>
          <a:solidFill>
            <a:srgbClr val="17304A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264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Method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75688" y="1280160"/>
            <a:ext cx="2331720" cy="457200"/>
          </a:xfrm>
          <a:prstGeom prst="rect">
            <a:avLst/>
          </a:prstGeom>
          <a:solidFill>
            <a:srgbClr val="17304A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67128" y="14264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Boundary signal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07408" y="1280160"/>
            <a:ext cx="2240280" cy="457200"/>
          </a:xfrm>
          <a:prstGeom prst="rect">
            <a:avLst/>
          </a:prstGeom>
          <a:solidFill>
            <a:srgbClr val="17304A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4264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Best trait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47688" y="1280160"/>
            <a:ext cx="2176272" cy="457200"/>
          </a:xfrm>
          <a:prstGeom prst="rect">
            <a:avLst/>
          </a:prstGeom>
          <a:solidFill>
            <a:srgbClr val="17304A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42646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Main trade-off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823960" y="1280160"/>
            <a:ext cx="2286000" cy="457200"/>
          </a:xfrm>
          <a:prstGeom prst="rect">
            <a:avLst/>
          </a:prstGeom>
          <a:solidFill>
            <a:srgbClr val="17304A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4264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4FA"/>
                </a:solidFill>
              </a:rPr>
              <a:t>Typical fit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1737360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183794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0A5FA"/>
                </a:solidFill>
              </a:rPr>
              <a:t>Fixed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075688" y="1737360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1837944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size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407408" y="1737360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183794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speed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647688" y="1737360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837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cuts meaning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823960" y="1737360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06256" y="183794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baseline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58368" y="2130552"/>
            <a:ext cx="14173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2231136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2D3EE"/>
                </a:solidFill>
              </a:rPr>
              <a:t>Overlap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2075688" y="2130552"/>
            <a:ext cx="23317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57984" y="223113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size + stride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407408" y="2130552"/>
            <a:ext cx="224028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223113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continuity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647688" y="2130552"/>
            <a:ext cx="2176272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2231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duplication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823960" y="2130552"/>
            <a:ext cx="228600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06256" y="223113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local context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58368" y="2523744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" y="262432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4D399"/>
                </a:solidFill>
              </a:rPr>
              <a:t>Paragraph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2075688" y="2523744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7984" y="262432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natural language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407408" y="2523744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9704" y="262432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readability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647688" y="2523744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2624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uneven size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8823960" y="2523744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06256" y="262432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prose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58368" y="2916936"/>
            <a:ext cx="14173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" y="301752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2D3EE"/>
                </a:solidFill>
              </a:rPr>
              <a:t>Recursive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2075688" y="2916936"/>
            <a:ext cx="23317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57984" y="3017520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structure + size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4407408" y="2916936"/>
            <a:ext cx="224028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9704" y="3017520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strong default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647688" y="2916936"/>
            <a:ext cx="2176272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9984" y="3017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rule-dependent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8823960" y="2916936"/>
            <a:ext cx="228600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06256" y="3017520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general RAG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658368" y="3310128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" y="341071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78BFA"/>
                </a:solidFill>
              </a:rPr>
              <a:t>Semantic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2075688" y="3310128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57984" y="3410712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embedding similarity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4407408" y="3310128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9704" y="341071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coherence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6647688" y="3310128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9984" y="34107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compute + threshold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8823960" y="3310128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06256" y="341071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topic shifts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658368" y="3703320"/>
            <a:ext cx="14173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" y="380390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4D399"/>
                </a:solidFill>
              </a:rPr>
              <a:t>Hierarchical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2075688" y="3703320"/>
            <a:ext cx="23317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57984" y="3803904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document tree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4407408" y="3703320"/>
            <a:ext cx="224028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89704" y="380390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multi-level context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6647688" y="3703320"/>
            <a:ext cx="2176272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9984" y="38039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more metadata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8823960" y="3703320"/>
            <a:ext cx="228600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06256" y="380390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manuals / docs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658368" y="4096512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0664" y="4197096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B923C"/>
                </a:solidFill>
              </a:rPr>
              <a:t>Parent-child</a:t>
            </a:r>
            <a:endParaRPr lang="en-US" sz="860" dirty="0"/>
          </a:p>
        </p:txBody>
      </p:sp>
      <p:sp>
        <p:nvSpPr>
          <p:cNvPr id="76" name="Shape 74"/>
          <p:cNvSpPr/>
          <p:nvPr/>
        </p:nvSpPr>
        <p:spPr>
          <a:xfrm>
            <a:off x="2075688" y="4096512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57984" y="4197096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small + large units</a:t>
            </a:r>
            <a:endParaRPr lang="en-US" sz="860" dirty="0"/>
          </a:p>
        </p:txBody>
      </p:sp>
      <p:sp>
        <p:nvSpPr>
          <p:cNvPr id="78" name="Shape 76"/>
          <p:cNvSpPr/>
          <p:nvPr/>
        </p:nvSpPr>
        <p:spPr>
          <a:xfrm>
            <a:off x="4407408" y="4096512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9704" y="419709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precision + context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6647688" y="4096512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9984" y="41970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more plumbing</a:t>
            </a:r>
            <a:endParaRPr lang="en-US" sz="860" dirty="0"/>
          </a:p>
        </p:txBody>
      </p:sp>
      <p:sp>
        <p:nvSpPr>
          <p:cNvPr id="82" name="Shape 80"/>
          <p:cNvSpPr/>
          <p:nvPr/>
        </p:nvSpPr>
        <p:spPr>
          <a:xfrm>
            <a:off x="8823960" y="4096512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06256" y="419709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long sections</a:t>
            </a:r>
            <a:endParaRPr lang="en-US" sz="860" dirty="0"/>
          </a:p>
        </p:txBody>
      </p:sp>
      <p:sp>
        <p:nvSpPr>
          <p:cNvPr id="84" name="Shape 82"/>
          <p:cNvSpPr/>
          <p:nvPr/>
        </p:nvSpPr>
        <p:spPr>
          <a:xfrm>
            <a:off x="658368" y="4489704"/>
            <a:ext cx="14173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0664" y="459028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0A5FA"/>
                </a:solidFill>
              </a:rPr>
              <a:t>Structure-aware</a:t>
            </a:r>
            <a:endParaRPr lang="en-US" sz="860" dirty="0"/>
          </a:p>
        </p:txBody>
      </p:sp>
      <p:sp>
        <p:nvSpPr>
          <p:cNvPr id="86" name="Shape 84"/>
          <p:cNvSpPr/>
          <p:nvPr/>
        </p:nvSpPr>
        <p:spPr>
          <a:xfrm>
            <a:off x="2075688" y="4489704"/>
            <a:ext cx="23317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57984" y="459028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format / syntax</a:t>
            </a:r>
            <a:endParaRPr lang="en-US" sz="860" dirty="0"/>
          </a:p>
        </p:txBody>
      </p:sp>
      <p:sp>
        <p:nvSpPr>
          <p:cNvPr id="88" name="Shape 86"/>
          <p:cNvSpPr/>
          <p:nvPr/>
        </p:nvSpPr>
        <p:spPr>
          <a:xfrm>
            <a:off x="4407408" y="4489704"/>
            <a:ext cx="224028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9704" y="459028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preserves semantics</a:t>
            </a:r>
            <a:endParaRPr lang="en-US" sz="860" dirty="0"/>
          </a:p>
        </p:txBody>
      </p:sp>
      <p:sp>
        <p:nvSpPr>
          <p:cNvPr id="90" name="Shape 88"/>
          <p:cNvSpPr/>
          <p:nvPr/>
        </p:nvSpPr>
        <p:spPr>
          <a:xfrm>
            <a:off x="6647688" y="4489704"/>
            <a:ext cx="2176272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29984" y="45902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parser-specific</a:t>
            </a:r>
            <a:endParaRPr lang="en-US" sz="860" dirty="0"/>
          </a:p>
        </p:txBody>
      </p:sp>
      <p:sp>
        <p:nvSpPr>
          <p:cNvPr id="92" name="Shape 90"/>
          <p:cNvSpPr/>
          <p:nvPr/>
        </p:nvSpPr>
        <p:spPr>
          <a:xfrm>
            <a:off x="8823960" y="4489704"/>
            <a:ext cx="228600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906256" y="45902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code / MD / tables</a:t>
            </a:r>
            <a:endParaRPr lang="en-US" sz="860" dirty="0"/>
          </a:p>
        </p:txBody>
      </p:sp>
      <p:sp>
        <p:nvSpPr>
          <p:cNvPr id="94" name="Shape 92"/>
          <p:cNvSpPr/>
          <p:nvPr/>
        </p:nvSpPr>
        <p:spPr>
          <a:xfrm>
            <a:off x="658368" y="4882896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0664" y="498348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FB923C"/>
                </a:solidFill>
              </a:rPr>
              <a:t>Agentic</a:t>
            </a:r>
            <a:endParaRPr lang="en-US" sz="860" dirty="0"/>
          </a:p>
        </p:txBody>
      </p:sp>
      <p:sp>
        <p:nvSpPr>
          <p:cNvPr id="96" name="Shape 94"/>
          <p:cNvSpPr/>
          <p:nvPr/>
        </p:nvSpPr>
        <p:spPr>
          <a:xfrm>
            <a:off x="2075688" y="4882896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157984" y="4983480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LLM judgment</a:t>
            </a:r>
            <a:endParaRPr lang="en-US" sz="860" dirty="0"/>
          </a:p>
        </p:txBody>
      </p:sp>
      <p:sp>
        <p:nvSpPr>
          <p:cNvPr id="98" name="Shape 96"/>
          <p:cNvSpPr/>
          <p:nvPr/>
        </p:nvSpPr>
        <p:spPr>
          <a:xfrm>
            <a:off x="4407408" y="4882896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89704" y="4983480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adaptive</a:t>
            </a:r>
            <a:endParaRPr lang="en-US" sz="860" dirty="0"/>
          </a:p>
        </p:txBody>
      </p:sp>
      <p:sp>
        <p:nvSpPr>
          <p:cNvPr id="100" name="Shape 98"/>
          <p:cNvSpPr/>
          <p:nvPr/>
        </p:nvSpPr>
        <p:spPr>
          <a:xfrm>
            <a:off x="6647688" y="4882896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29984" y="4983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latency + variability</a:t>
            </a:r>
            <a:endParaRPr lang="en-US" sz="860" dirty="0"/>
          </a:p>
        </p:txBody>
      </p:sp>
      <p:sp>
        <p:nvSpPr>
          <p:cNvPr id="102" name="Shape 100"/>
          <p:cNvSpPr/>
          <p:nvPr/>
        </p:nvSpPr>
        <p:spPr>
          <a:xfrm>
            <a:off x="8823960" y="4882896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906256" y="4983480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messy documents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658368" y="5276088"/>
            <a:ext cx="14173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0664" y="537667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4D399"/>
                </a:solidFill>
              </a:rPr>
              <a:t>Proposition</a:t>
            </a:r>
            <a:endParaRPr lang="en-US" sz="860" dirty="0"/>
          </a:p>
        </p:txBody>
      </p:sp>
      <p:sp>
        <p:nvSpPr>
          <p:cNvPr id="106" name="Shape 104"/>
          <p:cNvSpPr/>
          <p:nvPr/>
        </p:nvSpPr>
        <p:spPr>
          <a:xfrm>
            <a:off x="2075688" y="5276088"/>
            <a:ext cx="233172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157984" y="5376672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atomic claims</a:t>
            </a:r>
            <a:endParaRPr lang="en-US" sz="860" dirty="0"/>
          </a:p>
        </p:txBody>
      </p:sp>
      <p:sp>
        <p:nvSpPr>
          <p:cNvPr id="108" name="Shape 106"/>
          <p:cNvSpPr/>
          <p:nvPr/>
        </p:nvSpPr>
        <p:spPr>
          <a:xfrm>
            <a:off x="4407408" y="5276088"/>
            <a:ext cx="224028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89704" y="537667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fact precision</a:t>
            </a:r>
            <a:endParaRPr lang="en-US" sz="860" dirty="0"/>
          </a:p>
        </p:txBody>
      </p:sp>
      <p:sp>
        <p:nvSpPr>
          <p:cNvPr id="110" name="Shape 108"/>
          <p:cNvSpPr/>
          <p:nvPr/>
        </p:nvSpPr>
        <p:spPr>
          <a:xfrm>
            <a:off x="6647688" y="5276088"/>
            <a:ext cx="2176272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729984" y="5376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context loss</a:t>
            </a:r>
            <a:endParaRPr lang="en-US" sz="860" dirty="0"/>
          </a:p>
        </p:txBody>
      </p:sp>
      <p:sp>
        <p:nvSpPr>
          <p:cNvPr id="112" name="Shape 110"/>
          <p:cNvSpPr/>
          <p:nvPr/>
        </p:nvSpPr>
        <p:spPr>
          <a:xfrm>
            <a:off x="8823960" y="5276088"/>
            <a:ext cx="2286000" cy="393192"/>
          </a:xfrm>
          <a:prstGeom prst="rect">
            <a:avLst/>
          </a:prstGeom>
          <a:solidFill>
            <a:srgbClr val="0E1C2B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906256" y="5376672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fact-heavy corpora</a:t>
            </a:r>
            <a:endParaRPr lang="en-US" sz="860" dirty="0"/>
          </a:p>
        </p:txBody>
      </p:sp>
      <p:sp>
        <p:nvSpPr>
          <p:cNvPr id="114" name="Shape 112"/>
          <p:cNvSpPr/>
          <p:nvPr/>
        </p:nvSpPr>
        <p:spPr>
          <a:xfrm>
            <a:off x="658368" y="5669280"/>
            <a:ext cx="14173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40664" y="576986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78BFA"/>
                </a:solidFill>
              </a:rPr>
              <a:t>Late</a:t>
            </a:r>
            <a:endParaRPr lang="en-US" sz="860" dirty="0"/>
          </a:p>
        </p:txBody>
      </p:sp>
      <p:sp>
        <p:nvSpPr>
          <p:cNvPr id="116" name="Shape 114"/>
          <p:cNvSpPr/>
          <p:nvPr/>
        </p:nvSpPr>
        <p:spPr>
          <a:xfrm>
            <a:off x="2075688" y="5669280"/>
            <a:ext cx="233172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157984" y="5769864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contextual tokens</a:t>
            </a:r>
            <a:endParaRPr lang="en-US" sz="860" dirty="0"/>
          </a:p>
        </p:txBody>
      </p:sp>
      <p:sp>
        <p:nvSpPr>
          <p:cNvPr id="118" name="Shape 116"/>
          <p:cNvSpPr/>
          <p:nvPr/>
        </p:nvSpPr>
        <p:spPr>
          <a:xfrm>
            <a:off x="4407408" y="5669280"/>
            <a:ext cx="224028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89704" y="576986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contextual vectors</a:t>
            </a:r>
            <a:endParaRPr lang="en-US" sz="860" dirty="0"/>
          </a:p>
        </p:txBody>
      </p:sp>
      <p:sp>
        <p:nvSpPr>
          <p:cNvPr id="120" name="Shape 118"/>
          <p:cNvSpPr/>
          <p:nvPr/>
        </p:nvSpPr>
        <p:spPr>
          <a:xfrm>
            <a:off x="6647688" y="5669280"/>
            <a:ext cx="2176272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729984" y="57698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model complexity</a:t>
            </a:r>
            <a:endParaRPr lang="en-US" sz="860" dirty="0"/>
          </a:p>
        </p:txBody>
      </p:sp>
      <p:sp>
        <p:nvSpPr>
          <p:cNvPr id="122" name="Shape 120"/>
          <p:cNvSpPr/>
          <p:nvPr/>
        </p:nvSpPr>
        <p:spPr>
          <a:xfrm>
            <a:off x="8823960" y="5669280"/>
            <a:ext cx="2286000" cy="393192"/>
          </a:xfrm>
          <a:prstGeom prst="rect">
            <a:avLst/>
          </a:prstGeom>
          <a:solidFill>
            <a:srgbClr val="0B1724"/>
          </a:solidFill>
          <a:ln w="7620">
            <a:solidFill>
              <a:srgbClr val="1C334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06256" y="576986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ECF4FA"/>
                </a:solidFill>
              </a:rPr>
              <a:t>advanced retrieval</a:t>
            </a:r>
            <a:endParaRPr lang="en-US" sz="860" dirty="0"/>
          </a:p>
        </p:txBody>
      </p:sp>
      <p:sp>
        <p:nvSpPr>
          <p:cNvPr id="124" name="Text 122"/>
          <p:cNvSpPr/>
          <p:nvPr/>
        </p:nvSpPr>
        <p:spPr>
          <a:xfrm>
            <a:off x="868680" y="61996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No “best” chunker exists in isolation — evaluate retrieval on your own queries.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decision tree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document’s strongest signal, then add complexity only when needed.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709160" y="1225296"/>
            <a:ext cx="2651760" cy="603504"/>
          </a:xfrm>
          <a:prstGeom prst="roundRect">
            <a:avLst>
              <a:gd name="adj" fmla="val 12121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C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document have strong structure?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83480" y="1828800"/>
            <a:ext cx="-2011680" cy="685800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86600" y="1828800"/>
            <a:ext cx="1920240" cy="685800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20440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65008" y="1993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72768" y="2505456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715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structure-aware / hierarchical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754112" y="2505456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2715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C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topics shift inside long prose?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275320" y="3172968"/>
            <a:ext cx="-1508760" cy="685800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131552" y="3172968"/>
            <a:ext cx="18288" cy="685800"/>
          </a:xfrm>
          <a:prstGeom prst="line">
            <a:avLst/>
          </a:prstGeom>
          <a:noFill/>
          <a:ln w="19050">
            <a:solidFill>
              <a:srgbClr val="27415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42048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195560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3822192"/>
            <a:ext cx="278892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semantic chunking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23960" y="382219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recursive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3913632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53312" y="4224528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F4FA"/>
                </a:solidFill>
              </a:rPr>
              <a:t>Need tiny retrieval units but bigger LLM context?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17320" y="477316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→ add parent–child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4846320"/>
            <a:ext cx="6172200" cy="822960"/>
          </a:xfrm>
          <a:prstGeom prst="roundRect">
            <a:avLst>
              <a:gd name="adj" fmla="val 8889"/>
            </a:avLst>
          </a:prstGeom>
          <a:solidFill>
            <a:srgbClr val="0F1D2E"/>
          </a:solidFill>
          <a:ln w="12700">
            <a:solidFill>
              <a:srgbClr val="2741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508406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Escalate to agentic / proposition / late chunking only when evaluation shows the simpler strategy is missing your retrieval goals.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experiment: same query, four chunkers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quality instead of guessing.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8132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QUERY  →  “How many unused annual-leave days can an employee carry into next year?”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0C19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78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Fixed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3127248"/>
            <a:ext cx="1901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May retrieve only half of the sentence if a boundary lands badly.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44439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boundary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0C192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578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Recursive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9896" y="3127248"/>
            <a:ext cx="1901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Often keeps the full policy paragraph together.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44439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strong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0C19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78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Semantic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3127248"/>
            <a:ext cx="1901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Groups the carry-over sentence with nearby annual-leave meaning.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4439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topic-aware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98280" y="2331720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0C19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578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</a:rPr>
              <a:t>Parent–child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17736" y="3127248"/>
            <a:ext cx="1901952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CF4FA"/>
                </a:solidFill>
              </a:rPr>
              <a:t>Child matches “5 unused days”; parent restores the full section.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0" y="44439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precision + context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4FA"/>
                </a:solidFill>
              </a:rPr>
              <a:t>Evaluate: hit rate / recall@k · answer accuracy · duplication · latency ·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58704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</a:rPr>
              <a:t>The answer in our sample policy is “up to 5 unused days.” The point of the exercise is whether the retriever reliably surfaces that evidence.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4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teaching pack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786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and runnable examples use the same sample document.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6629400" cy="4480560"/>
          </a:xfrm>
          <a:prstGeom prst="roundRect">
            <a:avLst>
              <a:gd name="adj" fmla="val 1633"/>
            </a:avLst>
          </a:prstGeom>
          <a:solidFill>
            <a:srgbClr val="0C1927"/>
          </a:solidFill>
          <a:ln w="12700">
            <a:solidFill>
              <a:srgbClr val="2343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Python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208483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fixed_size_chunking.py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987552" y="252374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sliding_window_chunking.py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987552" y="296265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sentence_paragraph_chunking.py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987552" y="34015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recursive_chunking.py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987552" y="38404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semantic_chunking.py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98755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hierarchical_chunking.py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096512" y="208483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parent_child_chunking.py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096512" y="252374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structure_aware_chunking.py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096512" y="296265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agentic_chunking.py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096512" y="34015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proposition_chunking.py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096512" y="38404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CF4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late_chunking_demo.py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096512" y="42793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34D39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• compare_chunkers.py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1024128" y="51023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FB3C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sample_policy.txt  ·  README.md  ·  requirements.txt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26680" y="1325880"/>
            <a:ext cx="3749040" cy="1847088"/>
          </a:xfrm>
          <a:prstGeom prst="roundRect">
            <a:avLst>
              <a:gd name="adj" fmla="val 3960"/>
            </a:avLst>
          </a:prstGeom>
          <a:solidFill>
            <a:srgbClr val="0F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16184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Run the lightweight demos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82712" y="1956816"/>
            <a:ext cx="3218688" cy="822960"/>
          </a:xfrm>
          <a:prstGeom prst="roundRect">
            <a:avLst>
              <a:gd name="adj" fmla="val 6667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212140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compare_chunkers.py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7726680" y="3456432"/>
            <a:ext cx="3749040" cy="1892808"/>
          </a:xfrm>
          <a:prstGeom prst="roundRect">
            <a:avLst>
              <a:gd name="adj" fmla="val 3865"/>
            </a:avLst>
          </a:prstGeom>
          <a:solidFill>
            <a:srgbClr val="0F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37307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Embedding-based demos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82712" y="4050792"/>
            <a:ext cx="3218688" cy="960120"/>
          </a:xfrm>
          <a:prstGeom prst="roundRect">
            <a:avLst>
              <a:gd name="adj" fmla="val 5714"/>
            </a:avLst>
          </a:prstGeom>
          <a:solidFill>
            <a:srgbClr val="09131F"/>
          </a:solidFill>
          <a:ln w="12700">
            <a:solidFill>
              <a:srgbClr val="2037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7304" y="4215384"/>
            <a:ext cx="29169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pip install -r requirements.txt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7E5E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semantic_chunking.py</a:t>
            </a:r>
            <a:endParaRPr lang="en-US" sz="1110" dirty="0"/>
          </a:p>
        </p:txBody>
      </p:sp>
      <p:sp>
        <p:nvSpPr>
          <p:cNvPr id="27" name="Shape 25"/>
          <p:cNvSpPr/>
          <p:nvPr/>
        </p:nvSpPr>
        <p:spPr>
          <a:xfrm>
            <a:off x="7726680" y="557784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54696" y="56692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TEACH THIS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54696" y="58521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CF4FA"/>
                </a:solidFill>
              </a:rPr>
              <a:t>Suggested class activity: let learners predict boundaries first, then run the scripts.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869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Chunking Strategies for RAG</dc:title>
  <dc:subject>Teaching deck: chunking strategies for RAG</dc:subject>
  <dc:creator>OpenAI</dc:creator>
  <cp:lastModifiedBy>OpenAI</cp:lastModifiedBy>
  <cp:revision>1</cp:revision>
  <dcterms:created xsi:type="dcterms:W3CDTF">2026-09-24T18:08:34Z</dcterms:created>
  <dcterms:modified xsi:type="dcterms:W3CDTF">2026-09-24T18:08:34Z</dcterms:modified>
</cp:coreProperties>
</file>